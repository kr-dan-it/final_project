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9" r:id="rId4"/>
    <p:sldId id="258" r:id="rId5"/>
    <p:sldId id="260" r:id="rId6"/>
    <p:sldId id="262" r:id="rId7"/>
    <p:sldId id="263" r:id="rId8"/>
    <p:sldId id="264" r:id="rId9"/>
    <p:sldId id="265" r:id="rId10"/>
    <p:sldId id="268" r:id="rId11"/>
    <p:sldId id="266" r:id="rId12"/>
    <p:sldId id="267" r:id="rId13"/>
    <p:sldId id="269" r:id="rId14"/>
    <p:sldId id="270" r:id="rId15"/>
    <p:sldId id="271" r:id="rId16"/>
    <p:sldId id="272" r:id="rId17"/>
    <p:sldId id="273" r:id="rId18"/>
    <p:sldId id="275" r:id="rId19"/>
    <p:sldId id="276" r:id="rId20"/>
    <p:sldId id="277" r:id="rId21"/>
    <p:sldId id="278" r:id="rId22"/>
    <p:sldId id="28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73" d="100"/>
          <a:sy n="73" d="100"/>
        </p:scale>
        <p:origin x="36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0E1E9E66-4697-47F6-8CBF-76B93264D9D3}" type="datetimeFigureOut">
              <a:rPr lang="en-US" smtClean="0"/>
              <a:t>11/23/2025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309519833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E9E66-4697-47F6-8CBF-76B93264D9D3}"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3522667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E9E66-4697-47F6-8CBF-76B93264D9D3}"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752305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1E9E66-4697-47F6-8CBF-76B93264D9D3}"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1651824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1E9E66-4697-47F6-8CBF-76B93264D9D3}"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3307939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1E9E66-4697-47F6-8CBF-76B93264D9D3}" type="datetimeFigureOut">
              <a:rPr lang="en-US" smtClean="0"/>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2972450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0E1E9E66-4697-47F6-8CBF-76B93264D9D3}" type="datetimeFigureOut">
              <a:rPr lang="en-US" smtClean="0"/>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1218384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1E9E66-4697-47F6-8CBF-76B93264D9D3}"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3561914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1E9E66-4697-47F6-8CBF-76B93264D9D3}"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1784271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1E9E66-4697-47F6-8CBF-76B93264D9D3}"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373068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E9E66-4697-47F6-8CBF-76B93264D9D3}"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550754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E9E66-4697-47F6-8CBF-76B93264D9D3}"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320964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E9E66-4697-47F6-8CBF-76B93264D9D3}"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1711446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E9E66-4697-47F6-8CBF-76B93264D9D3}"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37910851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E9E66-4697-47F6-8CBF-76B93264D9D3}"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36048096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E9E66-4697-47F6-8CBF-76B93264D9D3}"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F95FF-CF53-4653-A504-C2EEE5D786FC}"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3744625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E9E66-4697-47F6-8CBF-76B93264D9D3}"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EF95FF-CF53-4653-A504-C2EEE5D786FC}" type="slidenum">
              <a:rPr lang="en-US" smtClean="0"/>
              <a:t>‹#›</a:t>
            </a:fld>
            <a:endParaRPr lang="en-US"/>
          </a:p>
        </p:txBody>
      </p:sp>
    </p:spTree>
    <p:extLst>
      <p:ext uri="{BB962C8B-B14F-4D97-AF65-F5344CB8AC3E}">
        <p14:creationId xmlns:p14="http://schemas.microsoft.com/office/powerpoint/2010/main" val="2434541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E1E9E66-4697-47F6-8CBF-76B93264D9D3}" type="datetimeFigureOut">
              <a:rPr lang="en-US" smtClean="0"/>
              <a:t>11/23/2025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DEF95FF-CF53-4653-A504-C2EEE5D786FC}" type="slidenum">
              <a:rPr lang="en-US" smtClean="0"/>
              <a:t>‹#›</a:t>
            </a:fld>
            <a:endParaRPr lang="en-US"/>
          </a:p>
        </p:txBody>
      </p:sp>
    </p:spTree>
    <p:extLst>
      <p:ext uri="{BB962C8B-B14F-4D97-AF65-F5344CB8AC3E}">
        <p14:creationId xmlns:p14="http://schemas.microsoft.com/office/powerpoint/2010/main" val="884303929"/>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hyperlink" Target="https://www.kaggle.com/datasets/samybaladram/iris-dataset-extended"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06FB-9CD1-0585-33F4-4C702DA0F731}"/>
              </a:ext>
            </a:extLst>
          </p:cNvPr>
          <p:cNvSpPr>
            <a:spLocks noGrp="1"/>
          </p:cNvSpPr>
          <p:nvPr>
            <p:ph type="title"/>
          </p:nvPr>
        </p:nvSpPr>
        <p:spPr>
          <a:xfrm>
            <a:off x="685801" y="3308581"/>
            <a:ext cx="7772400" cy="1468800"/>
          </a:xfrm>
        </p:spPr>
        <p:txBody>
          <a:bodyPr>
            <a:normAutofit/>
          </a:bodyPr>
          <a:lstStyle/>
          <a:p>
            <a:r>
              <a:rPr lang="uk-UA" sz="4400" noProof="0" dirty="0"/>
              <a:t>Фінальний проєкт для курсу Python-10 від </a:t>
            </a:r>
            <a:r>
              <a:rPr lang="uk-UA" sz="4400" noProof="0" dirty="0" err="1"/>
              <a:t>Dan</a:t>
            </a:r>
            <a:r>
              <a:rPr lang="uk-UA" sz="4400" noProof="0" dirty="0"/>
              <a:t> </a:t>
            </a:r>
            <a:r>
              <a:rPr lang="uk-UA" sz="4400" noProof="0" dirty="0" err="1"/>
              <a:t>IT</a:t>
            </a:r>
            <a:endParaRPr lang="uk-UA" sz="4400" noProof="0" dirty="0"/>
          </a:p>
        </p:txBody>
      </p:sp>
      <p:sp>
        <p:nvSpPr>
          <p:cNvPr id="3" name="Subtitle 2">
            <a:extLst>
              <a:ext uri="{FF2B5EF4-FFF2-40B4-BE49-F238E27FC236}">
                <a16:creationId xmlns:a16="http://schemas.microsoft.com/office/drawing/2014/main" id="{243C6360-CD12-960B-B71B-90186AA80B83}"/>
              </a:ext>
            </a:extLst>
          </p:cNvPr>
          <p:cNvSpPr>
            <a:spLocks noGrp="1"/>
          </p:cNvSpPr>
          <p:nvPr>
            <p:ph type="body" idx="1"/>
          </p:nvPr>
        </p:nvSpPr>
        <p:spPr/>
        <p:txBody>
          <a:bodyPr/>
          <a:lstStyle/>
          <a:p>
            <a:r>
              <a:rPr lang="uk-UA" noProof="0" dirty="0"/>
              <a:t>Рогаль Кароліна</a:t>
            </a:r>
          </a:p>
          <a:p>
            <a:r>
              <a:rPr lang="uk-UA" noProof="0" dirty="0"/>
              <a:t>2025</a:t>
            </a:r>
          </a:p>
        </p:txBody>
      </p:sp>
    </p:spTree>
    <p:extLst>
      <p:ext uri="{BB962C8B-B14F-4D97-AF65-F5344CB8AC3E}">
        <p14:creationId xmlns:p14="http://schemas.microsoft.com/office/powerpoint/2010/main" val="2249418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FA379-988E-E83C-0BC6-CB3F013F3471}"/>
              </a:ext>
            </a:extLst>
          </p:cNvPr>
          <p:cNvSpPr>
            <a:spLocks noGrp="1"/>
          </p:cNvSpPr>
          <p:nvPr>
            <p:ph type="title"/>
          </p:nvPr>
        </p:nvSpPr>
        <p:spPr/>
        <p:txBody>
          <a:bodyPr>
            <a:normAutofit/>
          </a:bodyPr>
          <a:lstStyle/>
          <a:p>
            <a:r>
              <a:rPr lang="uk-UA" noProof="0" dirty="0"/>
              <a:t>0. Вибір </a:t>
            </a:r>
            <a:r>
              <a:rPr lang="uk-UA" noProof="0" dirty="0" err="1"/>
              <a:t>датасету</a:t>
            </a:r>
            <a:endParaRPr lang="uk-UA" noProof="0" dirty="0"/>
          </a:p>
        </p:txBody>
      </p:sp>
      <p:sp>
        <p:nvSpPr>
          <p:cNvPr id="6" name="Content Placeholder 5">
            <a:extLst>
              <a:ext uri="{FF2B5EF4-FFF2-40B4-BE49-F238E27FC236}">
                <a16:creationId xmlns:a16="http://schemas.microsoft.com/office/drawing/2014/main" id="{0BF1E1BC-5617-245A-14FA-00F4143592B4}"/>
              </a:ext>
            </a:extLst>
          </p:cNvPr>
          <p:cNvSpPr>
            <a:spLocks noGrp="1"/>
          </p:cNvSpPr>
          <p:nvPr>
            <p:ph idx="1"/>
          </p:nvPr>
        </p:nvSpPr>
        <p:spPr/>
        <p:txBody>
          <a:bodyPr>
            <a:normAutofit lnSpcReduction="10000"/>
          </a:bodyPr>
          <a:lstStyle/>
          <a:p>
            <a:pPr marL="0" indent="0">
              <a:buNone/>
            </a:pPr>
            <a:r>
              <a:rPr lang="en-US" dirty="0"/>
              <a:t>This dataset builds upon the classic and widely-used Iris dataset, one of the most popular datasets in the realms of data science, statistics, and machine learning. Known for its simplicity, ease of use, and illustrative power in classification tasks, the original Iris dataset serves as a staple for data analysis beginners and experts alike. This enriched version introduces additional, realistic features, thus expanding the dataset to </a:t>
            </a:r>
            <a:r>
              <a:rPr lang="en-US" b="1" dirty="0"/>
              <a:t>1200 rows</a:t>
            </a:r>
            <a:r>
              <a:rPr lang="en-US" dirty="0"/>
              <a:t>. These new attributes offer a more nuanced understanding of iris flower biology and ecology, making this dataset ideal for educational, ecological, and machine learning applications.</a:t>
            </a:r>
          </a:p>
          <a:p>
            <a:pPr marL="0" indent="0">
              <a:buNone/>
            </a:pPr>
            <a:endParaRPr lang="en-US" dirty="0"/>
          </a:p>
          <a:p>
            <a:pPr marL="0" indent="0">
              <a:buNone/>
            </a:pPr>
            <a:r>
              <a:rPr lang="en-US" dirty="0"/>
              <a:t>This CSV file contains an extended version of the classic Iris dataset, enriching it with additional attributes and features. The dataset consists of 1200 rows and 21 columns that include both original attributes like 'Species', 'Sepal Length', 'Sepal Width', 'Petal Length', and 'Petal Width', as well as newly added environmental and morphological attributes such as 'Elevation', 'Soil Type', and 'Petal Curvature'.</a:t>
            </a:r>
          </a:p>
        </p:txBody>
      </p:sp>
      <p:sp>
        <p:nvSpPr>
          <p:cNvPr id="7" name="Text Placeholder 6">
            <a:extLst>
              <a:ext uri="{FF2B5EF4-FFF2-40B4-BE49-F238E27FC236}">
                <a16:creationId xmlns:a16="http://schemas.microsoft.com/office/drawing/2014/main" id="{956A410A-EA17-F557-B5BD-A776BE903367}"/>
              </a:ext>
            </a:extLst>
          </p:cNvPr>
          <p:cNvSpPr>
            <a:spLocks noGrp="1"/>
          </p:cNvSpPr>
          <p:nvPr>
            <p:ph type="body" sz="half" idx="2"/>
          </p:nvPr>
        </p:nvSpPr>
        <p:spPr/>
        <p:txBody>
          <a:bodyPr/>
          <a:lstStyle/>
          <a:p>
            <a:r>
              <a:rPr lang="en-US" dirty="0">
                <a:hlinkClick r:id="rId2"/>
              </a:rPr>
              <a:t>https://www.kaggle.com/datasets/samybaladram/iris-dataset-extended</a:t>
            </a:r>
            <a:endParaRPr lang="uk-UA" dirty="0"/>
          </a:p>
          <a:p>
            <a:endParaRPr lang="uk-UA" dirty="0"/>
          </a:p>
          <a:p>
            <a:r>
              <a:rPr lang="uk-UA" dirty="0"/>
              <a:t>(від </a:t>
            </a:r>
            <a:r>
              <a:rPr lang="en-US" dirty="0"/>
              <a:t>Samy </a:t>
            </a:r>
            <a:r>
              <a:rPr lang="en-US" dirty="0" err="1"/>
              <a:t>Baladram</a:t>
            </a:r>
            <a:r>
              <a:rPr lang="uk-UA" dirty="0"/>
              <a:t>, </a:t>
            </a:r>
            <a:r>
              <a:rPr lang="en-US" dirty="0"/>
              <a:t>CC BY 4.0</a:t>
            </a:r>
            <a:r>
              <a:rPr lang="uk-UA" dirty="0"/>
              <a:t>)</a:t>
            </a:r>
            <a:endParaRPr lang="en-US" dirty="0"/>
          </a:p>
        </p:txBody>
      </p:sp>
    </p:spTree>
    <p:extLst>
      <p:ext uri="{BB962C8B-B14F-4D97-AF65-F5344CB8AC3E}">
        <p14:creationId xmlns:p14="http://schemas.microsoft.com/office/powerpoint/2010/main" val="2058664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26289-7E4D-7B19-F7D3-B795BDF81C5C}"/>
              </a:ext>
            </a:extLst>
          </p:cNvPr>
          <p:cNvSpPr>
            <a:spLocks noGrp="1"/>
          </p:cNvSpPr>
          <p:nvPr>
            <p:ph type="title"/>
          </p:nvPr>
        </p:nvSpPr>
        <p:spPr>
          <a:xfrm>
            <a:off x="685799" y="683924"/>
            <a:ext cx="10131427" cy="860400"/>
          </a:xfrm>
        </p:spPr>
        <p:txBody>
          <a:bodyPr/>
          <a:lstStyle/>
          <a:p>
            <a:r>
              <a:rPr lang="ru-RU" b="1" dirty="0"/>
              <a:t>1. </a:t>
            </a:r>
            <a:r>
              <a:rPr lang="ru-RU" b="1" dirty="0" err="1"/>
              <a:t>Аналіз</a:t>
            </a:r>
            <a:r>
              <a:rPr lang="ru-RU" b="1" dirty="0"/>
              <a:t> та </a:t>
            </a:r>
            <a:r>
              <a:rPr lang="ru-RU" b="1" dirty="0" err="1"/>
              <a:t>підготовка</a:t>
            </a:r>
            <a:r>
              <a:rPr lang="ru-RU" b="1" dirty="0"/>
              <a:t> </a:t>
            </a:r>
            <a:r>
              <a:rPr lang="ru-RU" b="1" dirty="0" err="1"/>
              <a:t>даних</a:t>
            </a:r>
            <a:endParaRPr lang="en-US" dirty="0"/>
          </a:p>
        </p:txBody>
      </p:sp>
      <p:sp>
        <p:nvSpPr>
          <p:cNvPr id="3" name="Text Placeholder 2">
            <a:extLst>
              <a:ext uri="{FF2B5EF4-FFF2-40B4-BE49-F238E27FC236}">
                <a16:creationId xmlns:a16="http://schemas.microsoft.com/office/drawing/2014/main" id="{2CCC8B4A-EDEF-E126-C82F-829A9DBACF63}"/>
              </a:ext>
            </a:extLst>
          </p:cNvPr>
          <p:cNvSpPr>
            <a:spLocks noGrp="1"/>
          </p:cNvSpPr>
          <p:nvPr>
            <p:ph type="body" idx="1"/>
          </p:nvPr>
        </p:nvSpPr>
        <p:spPr>
          <a:xfrm>
            <a:off x="685798" y="5313676"/>
            <a:ext cx="10131428" cy="860400"/>
          </a:xfrm>
        </p:spPr>
        <p:txBody>
          <a:bodyPr/>
          <a:lstStyle/>
          <a:p>
            <a:r>
              <a:rPr lang="uk-UA" cap="none" dirty="0"/>
              <a:t>Також зробила перевірку за допомогою </a:t>
            </a:r>
            <a:r>
              <a:rPr lang="en-US" cap="none" dirty="0"/>
              <a:t>.info(), .describe(), .describe(include=“object”)</a:t>
            </a:r>
            <a:r>
              <a:rPr lang="uk-UA" cap="none" dirty="0"/>
              <a:t> та </a:t>
            </a:r>
            <a:r>
              <a:rPr lang="en-US" cap="none" dirty="0"/>
              <a:t> .</a:t>
            </a:r>
            <a:r>
              <a:rPr lang="en-US" cap="none" dirty="0" err="1"/>
              <a:t>isna</a:t>
            </a:r>
            <a:r>
              <a:rPr lang="en-US" cap="none" dirty="0"/>
              <a:t>().sum()</a:t>
            </a:r>
            <a:r>
              <a:rPr lang="uk-UA" cap="none" dirty="0"/>
              <a:t> </a:t>
            </a:r>
            <a:endParaRPr lang="en-US" cap="none" dirty="0"/>
          </a:p>
        </p:txBody>
      </p:sp>
      <p:pic>
        <p:nvPicPr>
          <p:cNvPr id="5" name="Picture 4">
            <a:extLst>
              <a:ext uri="{FF2B5EF4-FFF2-40B4-BE49-F238E27FC236}">
                <a16:creationId xmlns:a16="http://schemas.microsoft.com/office/drawing/2014/main" id="{B01B1E9C-298E-0B2A-88CC-C489FBA53E5B}"/>
              </a:ext>
            </a:extLst>
          </p:cNvPr>
          <p:cNvPicPr>
            <a:picLocks noChangeAspect="1"/>
          </p:cNvPicPr>
          <p:nvPr/>
        </p:nvPicPr>
        <p:blipFill>
          <a:blip r:embed="rId2"/>
          <a:stretch>
            <a:fillRect/>
          </a:stretch>
        </p:blipFill>
        <p:spPr>
          <a:xfrm>
            <a:off x="1103496" y="1863671"/>
            <a:ext cx="9296032" cy="3130657"/>
          </a:xfrm>
          <a:prstGeom prst="rect">
            <a:avLst/>
          </a:prstGeom>
        </p:spPr>
      </p:pic>
    </p:spTree>
    <p:extLst>
      <p:ext uri="{BB962C8B-B14F-4D97-AF65-F5344CB8AC3E}">
        <p14:creationId xmlns:p14="http://schemas.microsoft.com/office/powerpoint/2010/main" val="1872654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9A63D4-290F-9C45-A5F2-F6FBF3C29339}"/>
              </a:ext>
            </a:extLst>
          </p:cNvPr>
          <p:cNvPicPr>
            <a:picLocks noChangeAspect="1"/>
          </p:cNvPicPr>
          <p:nvPr/>
        </p:nvPicPr>
        <p:blipFill>
          <a:blip r:embed="rId2"/>
          <a:stretch>
            <a:fillRect/>
          </a:stretch>
        </p:blipFill>
        <p:spPr>
          <a:xfrm>
            <a:off x="373087" y="287874"/>
            <a:ext cx="6452256" cy="3048171"/>
          </a:xfrm>
          <a:prstGeom prst="rect">
            <a:avLst/>
          </a:prstGeom>
        </p:spPr>
      </p:pic>
      <p:pic>
        <p:nvPicPr>
          <p:cNvPr id="7" name="Picture 6">
            <a:extLst>
              <a:ext uri="{FF2B5EF4-FFF2-40B4-BE49-F238E27FC236}">
                <a16:creationId xmlns:a16="http://schemas.microsoft.com/office/drawing/2014/main" id="{17AA8DB3-B564-05DF-ED6E-D52507122C8C}"/>
              </a:ext>
            </a:extLst>
          </p:cNvPr>
          <p:cNvPicPr>
            <a:picLocks noChangeAspect="1"/>
          </p:cNvPicPr>
          <p:nvPr/>
        </p:nvPicPr>
        <p:blipFill>
          <a:blip r:embed="rId3"/>
          <a:stretch>
            <a:fillRect/>
          </a:stretch>
        </p:blipFill>
        <p:spPr>
          <a:xfrm>
            <a:off x="4212771" y="3863811"/>
            <a:ext cx="7698377" cy="1966616"/>
          </a:xfrm>
          <a:prstGeom prst="rect">
            <a:avLst/>
          </a:prstGeom>
        </p:spPr>
      </p:pic>
    </p:spTree>
    <p:extLst>
      <p:ext uri="{BB962C8B-B14F-4D97-AF65-F5344CB8AC3E}">
        <p14:creationId xmlns:p14="http://schemas.microsoft.com/office/powerpoint/2010/main" val="3886042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118D9A-222C-7A2A-B3DC-4EB2251883B0}"/>
              </a:ext>
            </a:extLst>
          </p:cNvPr>
          <p:cNvPicPr>
            <a:picLocks noChangeAspect="1"/>
          </p:cNvPicPr>
          <p:nvPr/>
        </p:nvPicPr>
        <p:blipFill>
          <a:blip r:embed="rId2"/>
          <a:stretch>
            <a:fillRect/>
          </a:stretch>
        </p:blipFill>
        <p:spPr>
          <a:xfrm>
            <a:off x="2700817" y="1004897"/>
            <a:ext cx="6790366" cy="4848206"/>
          </a:xfrm>
          <a:prstGeom prst="rect">
            <a:avLst/>
          </a:prstGeom>
        </p:spPr>
      </p:pic>
    </p:spTree>
    <p:extLst>
      <p:ext uri="{BB962C8B-B14F-4D97-AF65-F5344CB8AC3E}">
        <p14:creationId xmlns:p14="http://schemas.microsoft.com/office/powerpoint/2010/main" val="735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0BAE8-1F96-5A9F-9551-AA32F1E90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11D76A-53C6-922B-D666-FC1766BE6BD3}"/>
              </a:ext>
            </a:extLst>
          </p:cNvPr>
          <p:cNvSpPr>
            <a:spLocks noGrp="1"/>
          </p:cNvSpPr>
          <p:nvPr>
            <p:ph type="title"/>
          </p:nvPr>
        </p:nvSpPr>
        <p:spPr>
          <a:xfrm>
            <a:off x="685799" y="683924"/>
            <a:ext cx="10384972" cy="860400"/>
          </a:xfrm>
        </p:spPr>
        <p:txBody>
          <a:bodyPr>
            <a:normAutofit/>
          </a:bodyPr>
          <a:lstStyle/>
          <a:p>
            <a:r>
              <a:rPr lang="en-US" b="1" dirty="0"/>
              <a:t>2. </a:t>
            </a:r>
            <a:r>
              <a:rPr lang="ru-RU" b="1" dirty="0" err="1"/>
              <a:t>Розробка</a:t>
            </a:r>
            <a:r>
              <a:rPr lang="ru-RU" b="1" dirty="0"/>
              <a:t> </a:t>
            </a:r>
            <a:r>
              <a:rPr lang="ru-RU" b="1" dirty="0" err="1"/>
              <a:t>моделі</a:t>
            </a:r>
            <a:r>
              <a:rPr lang="ru-RU" b="1" dirty="0"/>
              <a:t> машинного </a:t>
            </a:r>
            <a:r>
              <a:rPr lang="ru-RU" b="1" dirty="0" err="1"/>
              <a:t>навчання</a:t>
            </a:r>
            <a:endParaRPr lang="ru-RU" b="1" dirty="0"/>
          </a:p>
        </p:txBody>
      </p:sp>
      <p:pic>
        <p:nvPicPr>
          <p:cNvPr id="6" name="Picture 5">
            <a:extLst>
              <a:ext uri="{FF2B5EF4-FFF2-40B4-BE49-F238E27FC236}">
                <a16:creationId xmlns:a16="http://schemas.microsoft.com/office/drawing/2014/main" id="{55570F0C-FC82-A77F-5381-3CCAB01079F0}"/>
              </a:ext>
            </a:extLst>
          </p:cNvPr>
          <p:cNvPicPr>
            <a:picLocks noChangeAspect="1"/>
          </p:cNvPicPr>
          <p:nvPr/>
        </p:nvPicPr>
        <p:blipFill>
          <a:blip r:embed="rId2"/>
          <a:stretch>
            <a:fillRect/>
          </a:stretch>
        </p:blipFill>
        <p:spPr>
          <a:xfrm>
            <a:off x="2844981" y="1750683"/>
            <a:ext cx="6066608" cy="3356634"/>
          </a:xfrm>
          <a:prstGeom prst="rect">
            <a:avLst/>
          </a:prstGeom>
        </p:spPr>
      </p:pic>
    </p:spTree>
    <p:extLst>
      <p:ext uri="{BB962C8B-B14F-4D97-AF65-F5344CB8AC3E}">
        <p14:creationId xmlns:p14="http://schemas.microsoft.com/office/powerpoint/2010/main" val="2893038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8C2F75-A6F4-B943-4C45-205F438D4EB7}"/>
              </a:ext>
            </a:extLst>
          </p:cNvPr>
          <p:cNvPicPr>
            <a:picLocks noChangeAspect="1"/>
          </p:cNvPicPr>
          <p:nvPr/>
        </p:nvPicPr>
        <p:blipFill>
          <a:blip r:embed="rId2"/>
          <a:stretch>
            <a:fillRect/>
          </a:stretch>
        </p:blipFill>
        <p:spPr>
          <a:xfrm>
            <a:off x="542109" y="543143"/>
            <a:ext cx="5964066" cy="2657257"/>
          </a:xfrm>
          <a:prstGeom prst="rect">
            <a:avLst/>
          </a:prstGeom>
        </p:spPr>
      </p:pic>
      <p:pic>
        <p:nvPicPr>
          <p:cNvPr id="5" name="Picture 4">
            <a:extLst>
              <a:ext uri="{FF2B5EF4-FFF2-40B4-BE49-F238E27FC236}">
                <a16:creationId xmlns:a16="http://schemas.microsoft.com/office/drawing/2014/main" id="{5F201222-A3B1-2891-37DC-3EB104E55A39}"/>
              </a:ext>
            </a:extLst>
          </p:cNvPr>
          <p:cNvPicPr>
            <a:picLocks noChangeAspect="1"/>
          </p:cNvPicPr>
          <p:nvPr/>
        </p:nvPicPr>
        <p:blipFill>
          <a:blip r:embed="rId3"/>
          <a:stretch>
            <a:fillRect/>
          </a:stretch>
        </p:blipFill>
        <p:spPr>
          <a:xfrm>
            <a:off x="4245427" y="3429000"/>
            <a:ext cx="7476309" cy="2718658"/>
          </a:xfrm>
          <a:prstGeom prst="rect">
            <a:avLst/>
          </a:prstGeom>
        </p:spPr>
      </p:pic>
    </p:spTree>
    <p:extLst>
      <p:ext uri="{BB962C8B-B14F-4D97-AF65-F5344CB8AC3E}">
        <p14:creationId xmlns:p14="http://schemas.microsoft.com/office/powerpoint/2010/main" val="2374599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FA13BC-5B90-9EDB-2478-3335768D2994}"/>
              </a:ext>
            </a:extLst>
          </p:cNvPr>
          <p:cNvPicPr>
            <a:picLocks noChangeAspect="1"/>
          </p:cNvPicPr>
          <p:nvPr/>
        </p:nvPicPr>
        <p:blipFill>
          <a:blip r:embed="rId2"/>
          <a:stretch>
            <a:fillRect/>
          </a:stretch>
        </p:blipFill>
        <p:spPr>
          <a:xfrm>
            <a:off x="2435358" y="282183"/>
            <a:ext cx="6676257" cy="3005949"/>
          </a:xfrm>
          <a:prstGeom prst="rect">
            <a:avLst/>
          </a:prstGeom>
        </p:spPr>
      </p:pic>
      <p:pic>
        <p:nvPicPr>
          <p:cNvPr id="5" name="Picture 4">
            <a:extLst>
              <a:ext uri="{FF2B5EF4-FFF2-40B4-BE49-F238E27FC236}">
                <a16:creationId xmlns:a16="http://schemas.microsoft.com/office/drawing/2014/main" id="{E59A689F-3090-915A-4C62-9C2993B1F18B}"/>
              </a:ext>
            </a:extLst>
          </p:cNvPr>
          <p:cNvPicPr>
            <a:picLocks noChangeAspect="1"/>
          </p:cNvPicPr>
          <p:nvPr/>
        </p:nvPicPr>
        <p:blipFill>
          <a:blip r:embed="rId3"/>
          <a:stretch>
            <a:fillRect/>
          </a:stretch>
        </p:blipFill>
        <p:spPr>
          <a:xfrm>
            <a:off x="0" y="3781696"/>
            <a:ext cx="5322818" cy="2553789"/>
          </a:xfrm>
          <a:prstGeom prst="rect">
            <a:avLst/>
          </a:prstGeom>
        </p:spPr>
      </p:pic>
      <p:pic>
        <p:nvPicPr>
          <p:cNvPr id="7" name="Picture 6">
            <a:extLst>
              <a:ext uri="{FF2B5EF4-FFF2-40B4-BE49-F238E27FC236}">
                <a16:creationId xmlns:a16="http://schemas.microsoft.com/office/drawing/2014/main" id="{828959BA-226B-08AD-7896-D2D0E9A5677F}"/>
              </a:ext>
            </a:extLst>
          </p:cNvPr>
          <p:cNvPicPr>
            <a:picLocks noChangeAspect="1"/>
          </p:cNvPicPr>
          <p:nvPr/>
        </p:nvPicPr>
        <p:blipFill>
          <a:blip r:embed="rId4"/>
          <a:stretch>
            <a:fillRect/>
          </a:stretch>
        </p:blipFill>
        <p:spPr>
          <a:xfrm>
            <a:off x="5974352" y="4064267"/>
            <a:ext cx="6274526" cy="1988648"/>
          </a:xfrm>
          <a:prstGeom prst="rect">
            <a:avLst/>
          </a:prstGeom>
        </p:spPr>
      </p:pic>
    </p:spTree>
    <p:extLst>
      <p:ext uri="{BB962C8B-B14F-4D97-AF65-F5344CB8AC3E}">
        <p14:creationId xmlns:p14="http://schemas.microsoft.com/office/powerpoint/2010/main" val="736423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0F60B2-E92C-9259-4583-7F7C0E38A3CD}"/>
              </a:ext>
            </a:extLst>
          </p:cNvPr>
          <p:cNvPicPr>
            <a:picLocks noChangeAspect="1"/>
          </p:cNvPicPr>
          <p:nvPr/>
        </p:nvPicPr>
        <p:blipFill>
          <a:blip r:embed="rId2"/>
          <a:stretch>
            <a:fillRect/>
          </a:stretch>
        </p:blipFill>
        <p:spPr>
          <a:xfrm>
            <a:off x="424542" y="354964"/>
            <a:ext cx="6096000" cy="2518864"/>
          </a:xfrm>
          <a:prstGeom prst="rect">
            <a:avLst/>
          </a:prstGeom>
        </p:spPr>
      </p:pic>
      <p:pic>
        <p:nvPicPr>
          <p:cNvPr id="5" name="Picture 4">
            <a:extLst>
              <a:ext uri="{FF2B5EF4-FFF2-40B4-BE49-F238E27FC236}">
                <a16:creationId xmlns:a16="http://schemas.microsoft.com/office/drawing/2014/main" id="{F918A363-B0E3-F922-B4CB-BB64ED68A3ED}"/>
              </a:ext>
            </a:extLst>
          </p:cNvPr>
          <p:cNvPicPr>
            <a:picLocks noChangeAspect="1"/>
          </p:cNvPicPr>
          <p:nvPr/>
        </p:nvPicPr>
        <p:blipFill>
          <a:blip r:embed="rId3"/>
          <a:stretch>
            <a:fillRect/>
          </a:stretch>
        </p:blipFill>
        <p:spPr>
          <a:xfrm>
            <a:off x="1279763" y="3727390"/>
            <a:ext cx="4385558" cy="1915071"/>
          </a:xfrm>
          <a:prstGeom prst="rect">
            <a:avLst/>
          </a:prstGeom>
        </p:spPr>
      </p:pic>
      <p:pic>
        <p:nvPicPr>
          <p:cNvPr id="1025" name="Picture 1">
            <a:extLst>
              <a:ext uri="{FF2B5EF4-FFF2-40B4-BE49-F238E27FC236}">
                <a16:creationId xmlns:a16="http://schemas.microsoft.com/office/drawing/2014/main" id="{91A45D37-CEC1-40D8-5F67-F139FD1838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0773" y="354964"/>
            <a:ext cx="3241398" cy="252044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6641BCEF-38D4-0E34-A061-D4959C35D68E}"/>
              </a:ext>
            </a:extLst>
          </p:cNvPr>
          <p:cNvCxnSpPr/>
          <p:nvPr/>
        </p:nvCxnSpPr>
        <p:spPr>
          <a:xfrm flipV="1">
            <a:off x="2468880" y="1724297"/>
            <a:ext cx="5682343" cy="89480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0003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65AB7-038A-BCB3-85E1-F6EBDA3C5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47694-C95B-1480-36E1-0F2F0AF86D12}"/>
              </a:ext>
            </a:extLst>
          </p:cNvPr>
          <p:cNvSpPr>
            <a:spLocks noGrp="1"/>
          </p:cNvSpPr>
          <p:nvPr>
            <p:ph type="title"/>
          </p:nvPr>
        </p:nvSpPr>
        <p:spPr>
          <a:xfrm>
            <a:off x="685799" y="683924"/>
            <a:ext cx="10384972" cy="860400"/>
          </a:xfrm>
        </p:spPr>
        <p:txBody>
          <a:bodyPr>
            <a:normAutofit/>
          </a:bodyPr>
          <a:lstStyle/>
          <a:p>
            <a:r>
              <a:rPr lang="ru-RU" b="1" dirty="0"/>
              <a:t>3. </a:t>
            </a:r>
            <a:r>
              <a:rPr lang="ru-RU" b="1" dirty="0" err="1"/>
              <a:t>Візуалізація</a:t>
            </a:r>
            <a:r>
              <a:rPr lang="ru-RU" b="1" dirty="0"/>
              <a:t> </a:t>
            </a:r>
            <a:r>
              <a:rPr lang="ru-RU" b="1" dirty="0" err="1"/>
              <a:t>даних</a:t>
            </a:r>
            <a:endParaRPr lang="ru-RU" b="1" dirty="0"/>
          </a:p>
        </p:txBody>
      </p:sp>
      <p:pic>
        <p:nvPicPr>
          <p:cNvPr id="4097" name="Picture 1">
            <a:extLst>
              <a:ext uri="{FF2B5EF4-FFF2-40B4-BE49-F238E27FC236}">
                <a16:creationId xmlns:a16="http://schemas.microsoft.com/office/drawing/2014/main" id="{125D2AAD-E577-58FB-BC96-882A5C6243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5102" y="1719641"/>
            <a:ext cx="5981796" cy="4454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3779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0EC81B0A-2382-87B3-8C23-EE18EA4103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8639" y="423413"/>
            <a:ext cx="7834721" cy="6011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7754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1">
            <a:extLst>
              <a:ext uri="{FF2B5EF4-FFF2-40B4-BE49-F238E27FC236}">
                <a16:creationId xmlns:a16="http://schemas.microsoft.com/office/drawing/2014/main" id="{3866DE54-513A-1997-8D4A-3DE6BC16CE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680" y="450669"/>
            <a:ext cx="3664131" cy="288237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23C75BC5-065E-8865-13E3-F9D223E4B1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7111" y="450670"/>
            <a:ext cx="3766209" cy="288237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a:extLst>
              <a:ext uri="{FF2B5EF4-FFF2-40B4-BE49-F238E27FC236}">
                <a16:creationId xmlns:a16="http://schemas.microsoft.com/office/drawing/2014/main" id="{2F23A01C-5664-98F0-4CF0-8FD92565AE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0557" y="3616169"/>
            <a:ext cx="7630886" cy="3090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1043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B23C4-964B-8FA1-EB18-C4AFE8799D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FE0B35-4650-BF60-C4C7-0FC6C253CD25}"/>
              </a:ext>
            </a:extLst>
          </p:cNvPr>
          <p:cNvSpPr>
            <a:spLocks noGrp="1"/>
          </p:cNvSpPr>
          <p:nvPr>
            <p:ph type="title"/>
          </p:nvPr>
        </p:nvSpPr>
        <p:spPr>
          <a:xfrm>
            <a:off x="685799" y="683924"/>
            <a:ext cx="10384972" cy="860400"/>
          </a:xfrm>
        </p:spPr>
        <p:txBody>
          <a:bodyPr>
            <a:normAutofit/>
          </a:bodyPr>
          <a:lstStyle/>
          <a:p>
            <a:r>
              <a:rPr lang="ru-RU" b="1" dirty="0"/>
              <a:t>4. </a:t>
            </a:r>
            <a:r>
              <a:rPr lang="ru-RU" b="1" dirty="0" err="1"/>
              <a:t>Розробка</a:t>
            </a:r>
            <a:r>
              <a:rPr lang="ru-RU" b="1" dirty="0"/>
              <a:t> веб-</a:t>
            </a:r>
            <a:r>
              <a:rPr lang="ru-RU" b="1" dirty="0" err="1"/>
              <a:t>сторінки</a:t>
            </a:r>
            <a:r>
              <a:rPr lang="ru-RU" b="1" dirty="0"/>
              <a:t> у </a:t>
            </a:r>
            <a:r>
              <a:rPr lang="ru-RU" b="1" dirty="0" err="1"/>
              <a:t>Django</a:t>
            </a:r>
            <a:endParaRPr lang="ru-RU" b="1" dirty="0"/>
          </a:p>
        </p:txBody>
      </p:sp>
      <p:pic>
        <p:nvPicPr>
          <p:cNvPr id="6" name="Picture 5">
            <a:extLst>
              <a:ext uri="{FF2B5EF4-FFF2-40B4-BE49-F238E27FC236}">
                <a16:creationId xmlns:a16="http://schemas.microsoft.com/office/drawing/2014/main" id="{18E0DA4F-A848-0A5F-CAF2-50C98F3E384F}"/>
              </a:ext>
            </a:extLst>
          </p:cNvPr>
          <p:cNvPicPr>
            <a:picLocks noChangeAspect="1"/>
          </p:cNvPicPr>
          <p:nvPr/>
        </p:nvPicPr>
        <p:blipFill>
          <a:blip r:embed="rId2"/>
          <a:stretch>
            <a:fillRect/>
          </a:stretch>
        </p:blipFill>
        <p:spPr>
          <a:xfrm>
            <a:off x="3990687" y="1922565"/>
            <a:ext cx="4210625" cy="4425983"/>
          </a:xfrm>
          <a:prstGeom prst="rect">
            <a:avLst/>
          </a:prstGeom>
        </p:spPr>
      </p:pic>
    </p:spTree>
    <p:extLst>
      <p:ext uri="{BB962C8B-B14F-4D97-AF65-F5344CB8AC3E}">
        <p14:creationId xmlns:p14="http://schemas.microsoft.com/office/powerpoint/2010/main" val="980832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BD3417E-08FD-0FB3-D71B-A47037898F27}"/>
              </a:ext>
            </a:extLst>
          </p:cNvPr>
          <p:cNvPicPr>
            <a:picLocks noChangeAspect="1"/>
          </p:cNvPicPr>
          <p:nvPr/>
        </p:nvPicPr>
        <p:blipFill>
          <a:blip r:embed="rId2"/>
          <a:stretch>
            <a:fillRect/>
          </a:stretch>
        </p:blipFill>
        <p:spPr>
          <a:xfrm>
            <a:off x="574139" y="420703"/>
            <a:ext cx="5826662" cy="1536906"/>
          </a:xfrm>
          <a:prstGeom prst="rect">
            <a:avLst/>
          </a:prstGeom>
        </p:spPr>
      </p:pic>
      <p:pic>
        <p:nvPicPr>
          <p:cNvPr id="7" name="Picture 6">
            <a:extLst>
              <a:ext uri="{FF2B5EF4-FFF2-40B4-BE49-F238E27FC236}">
                <a16:creationId xmlns:a16="http://schemas.microsoft.com/office/drawing/2014/main" id="{6C959007-AE78-1C13-43CA-8759587E2D46}"/>
              </a:ext>
            </a:extLst>
          </p:cNvPr>
          <p:cNvPicPr>
            <a:picLocks noChangeAspect="1"/>
          </p:cNvPicPr>
          <p:nvPr/>
        </p:nvPicPr>
        <p:blipFill>
          <a:blip r:embed="rId3"/>
          <a:stretch>
            <a:fillRect/>
          </a:stretch>
        </p:blipFill>
        <p:spPr>
          <a:xfrm>
            <a:off x="4709159" y="2132093"/>
            <a:ext cx="7041975" cy="2593813"/>
          </a:xfrm>
          <a:prstGeom prst="rect">
            <a:avLst/>
          </a:prstGeom>
        </p:spPr>
      </p:pic>
      <p:cxnSp>
        <p:nvCxnSpPr>
          <p:cNvPr id="9" name="Straight Arrow Connector 8">
            <a:extLst>
              <a:ext uri="{FF2B5EF4-FFF2-40B4-BE49-F238E27FC236}">
                <a16:creationId xmlns:a16="http://schemas.microsoft.com/office/drawing/2014/main" id="{3624E609-8FC0-7C41-6D57-79EC5EE137E9}"/>
              </a:ext>
            </a:extLst>
          </p:cNvPr>
          <p:cNvCxnSpPr>
            <a:cxnSpLocks/>
          </p:cNvCxnSpPr>
          <p:nvPr/>
        </p:nvCxnSpPr>
        <p:spPr>
          <a:xfrm>
            <a:off x="4147457" y="1502229"/>
            <a:ext cx="1312817" cy="14369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D6FA2795-4F27-7871-434E-DD03C84C03B9}"/>
              </a:ext>
            </a:extLst>
          </p:cNvPr>
          <p:cNvPicPr>
            <a:picLocks noChangeAspect="1"/>
          </p:cNvPicPr>
          <p:nvPr/>
        </p:nvPicPr>
        <p:blipFill>
          <a:blip r:embed="rId4"/>
          <a:stretch>
            <a:fillRect/>
          </a:stretch>
        </p:blipFill>
        <p:spPr>
          <a:xfrm>
            <a:off x="246858" y="4900390"/>
            <a:ext cx="7801198" cy="1536907"/>
          </a:xfrm>
          <a:prstGeom prst="rect">
            <a:avLst/>
          </a:prstGeom>
        </p:spPr>
      </p:pic>
      <p:cxnSp>
        <p:nvCxnSpPr>
          <p:cNvPr id="13" name="Straight Arrow Connector 12">
            <a:extLst>
              <a:ext uri="{FF2B5EF4-FFF2-40B4-BE49-F238E27FC236}">
                <a16:creationId xmlns:a16="http://schemas.microsoft.com/office/drawing/2014/main" id="{11274F71-56B9-71DB-7417-97C73C404E31}"/>
              </a:ext>
            </a:extLst>
          </p:cNvPr>
          <p:cNvCxnSpPr/>
          <p:nvPr/>
        </p:nvCxnSpPr>
        <p:spPr>
          <a:xfrm flipH="1">
            <a:off x="3076303" y="1502229"/>
            <a:ext cx="457200" cy="37229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9503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9421A7-1C20-53DA-ECFC-F9CCA64F7035}"/>
              </a:ext>
            </a:extLst>
          </p:cNvPr>
          <p:cNvPicPr>
            <a:picLocks noChangeAspect="1"/>
          </p:cNvPicPr>
          <p:nvPr/>
        </p:nvPicPr>
        <p:blipFill>
          <a:blip r:embed="rId2"/>
          <a:stretch>
            <a:fillRect/>
          </a:stretch>
        </p:blipFill>
        <p:spPr>
          <a:xfrm>
            <a:off x="509451" y="396886"/>
            <a:ext cx="7380514" cy="2081577"/>
          </a:xfrm>
          <a:prstGeom prst="rect">
            <a:avLst/>
          </a:prstGeom>
        </p:spPr>
      </p:pic>
      <p:pic>
        <p:nvPicPr>
          <p:cNvPr id="5" name="Picture 4">
            <a:extLst>
              <a:ext uri="{FF2B5EF4-FFF2-40B4-BE49-F238E27FC236}">
                <a16:creationId xmlns:a16="http://schemas.microsoft.com/office/drawing/2014/main" id="{57A35BD1-944B-80C9-EF41-4FB8358CB37E}"/>
              </a:ext>
            </a:extLst>
          </p:cNvPr>
          <p:cNvPicPr>
            <a:picLocks noChangeAspect="1"/>
          </p:cNvPicPr>
          <p:nvPr/>
        </p:nvPicPr>
        <p:blipFill>
          <a:blip r:embed="rId3"/>
          <a:stretch>
            <a:fillRect/>
          </a:stretch>
        </p:blipFill>
        <p:spPr>
          <a:xfrm>
            <a:off x="6910250" y="2713553"/>
            <a:ext cx="4911885" cy="2919375"/>
          </a:xfrm>
          <a:prstGeom prst="rect">
            <a:avLst/>
          </a:prstGeom>
        </p:spPr>
      </p:pic>
      <p:cxnSp>
        <p:nvCxnSpPr>
          <p:cNvPr id="7" name="Straight Arrow Connector 6">
            <a:extLst>
              <a:ext uri="{FF2B5EF4-FFF2-40B4-BE49-F238E27FC236}">
                <a16:creationId xmlns:a16="http://schemas.microsoft.com/office/drawing/2014/main" id="{6B347A76-04FE-1672-DCF5-182DE3245D6F}"/>
              </a:ext>
            </a:extLst>
          </p:cNvPr>
          <p:cNvCxnSpPr/>
          <p:nvPr/>
        </p:nvCxnSpPr>
        <p:spPr>
          <a:xfrm>
            <a:off x="5114109" y="2168434"/>
            <a:ext cx="2893422" cy="16197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7276015-1014-38AA-67BD-A2235F9BC1A1}"/>
              </a:ext>
            </a:extLst>
          </p:cNvPr>
          <p:cNvPicPr>
            <a:picLocks noChangeAspect="1"/>
          </p:cNvPicPr>
          <p:nvPr/>
        </p:nvPicPr>
        <p:blipFill>
          <a:blip r:embed="rId4"/>
          <a:stretch>
            <a:fillRect/>
          </a:stretch>
        </p:blipFill>
        <p:spPr>
          <a:xfrm>
            <a:off x="509451" y="3429000"/>
            <a:ext cx="5639752" cy="2790000"/>
          </a:xfrm>
          <a:prstGeom prst="rect">
            <a:avLst/>
          </a:prstGeom>
        </p:spPr>
      </p:pic>
      <p:cxnSp>
        <p:nvCxnSpPr>
          <p:cNvPr id="11" name="Straight Arrow Connector 10">
            <a:extLst>
              <a:ext uri="{FF2B5EF4-FFF2-40B4-BE49-F238E27FC236}">
                <a16:creationId xmlns:a16="http://schemas.microsoft.com/office/drawing/2014/main" id="{42DCFF34-79A6-C945-04DC-4355D7F2D775}"/>
              </a:ext>
            </a:extLst>
          </p:cNvPr>
          <p:cNvCxnSpPr>
            <a:cxnSpLocks/>
          </p:cNvCxnSpPr>
          <p:nvPr/>
        </p:nvCxnSpPr>
        <p:spPr>
          <a:xfrm flipH="1" flipV="1">
            <a:off x="3847011" y="3556688"/>
            <a:ext cx="3670663" cy="9499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7030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B510E6-D735-D5AE-0980-22330FDA8324}"/>
              </a:ext>
            </a:extLst>
          </p:cNvPr>
          <p:cNvPicPr>
            <a:picLocks noChangeAspect="1"/>
          </p:cNvPicPr>
          <p:nvPr/>
        </p:nvPicPr>
        <p:blipFill>
          <a:blip r:embed="rId2"/>
          <a:stretch>
            <a:fillRect/>
          </a:stretch>
        </p:blipFill>
        <p:spPr>
          <a:xfrm>
            <a:off x="633548" y="450813"/>
            <a:ext cx="6518366" cy="2653751"/>
          </a:xfrm>
          <a:prstGeom prst="rect">
            <a:avLst/>
          </a:prstGeom>
        </p:spPr>
      </p:pic>
      <p:sp>
        <p:nvSpPr>
          <p:cNvPr id="5" name="TextBox 4">
            <a:extLst>
              <a:ext uri="{FF2B5EF4-FFF2-40B4-BE49-F238E27FC236}">
                <a16:creationId xmlns:a16="http://schemas.microsoft.com/office/drawing/2014/main" id="{EAC03DA7-4A7B-AA1B-DE05-86369ACDC381}"/>
              </a:ext>
            </a:extLst>
          </p:cNvPr>
          <p:cNvSpPr txBox="1"/>
          <p:nvPr/>
        </p:nvSpPr>
        <p:spPr>
          <a:xfrm>
            <a:off x="633548" y="3398478"/>
            <a:ext cx="6097088" cy="646331"/>
          </a:xfrm>
          <a:prstGeom prst="rect">
            <a:avLst/>
          </a:prstGeom>
          <a:noFill/>
        </p:spPr>
        <p:txBody>
          <a:bodyPr wrap="square">
            <a:spAutoFit/>
          </a:bodyPr>
          <a:lstStyle/>
          <a:p>
            <a:r>
              <a:rPr lang="en-US" dirty="0"/>
              <a:t>https://getbootstrap.com/docs/4.6/getting-started/introduction/</a:t>
            </a:r>
          </a:p>
        </p:txBody>
      </p:sp>
      <p:pic>
        <p:nvPicPr>
          <p:cNvPr id="7" name="Picture 6">
            <a:extLst>
              <a:ext uri="{FF2B5EF4-FFF2-40B4-BE49-F238E27FC236}">
                <a16:creationId xmlns:a16="http://schemas.microsoft.com/office/drawing/2014/main" id="{B4FC995F-798F-A95F-B31E-07566C4C8D27}"/>
              </a:ext>
            </a:extLst>
          </p:cNvPr>
          <p:cNvPicPr>
            <a:picLocks noChangeAspect="1"/>
          </p:cNvPicPr>
          <p:nvPr/>
        </p:nvPicPr>
        <p:blipFill>
          <a:blip r:embed="rId3"/>
          <a:stretch>
            <a:fillRect/>
          </a:stretch>
        </p:blipFill>
        <p:spPr>
          <a:xfrm>
            <a:off x="7932119" y="450812"/>
            <a:ext cx="3465224" cy="2659114"/>
          </a:xfrm>
          <a:prstGeom prst="rect">
            <a:avLst/>
          </a:prstGeom>
        </p:spPr>
      </p:pic>
      <p:pic>
        <p:nvPicPr>
          <p:cNvPr id="9" name="Picture 8">
            <a:extLst>
              <a:ext uri="{FF2B5EF4-FFF2-40B4-BE49-F238E27FC236}">
                <a16:creationId xmlns:a16="http://schemas.microsoft.com/office/drawing/2014/main" id="{8C163A70-4C5E-4207-A5CA-42F74172ABCB}"/>
              </a:ext>
            </a:extLst>
          </p:cNvPr>
          <p:cNvPicPr>
            <a:picLocks noChangeAspect="1"/>
          </p:cNvPicPr>
          <p:nvPr/>
        </p:nvPicPr>
        <p:blipFill>
          <a:blip r:embed="rId4"/>
          <a:stretch>
            <a:fillRect/>
          </a:stretch>
        </p:blipFill>
        <p:spPr>
          <a:xfrm>
            <a:off x="5704115" y="3429000"/>
            <a:ext cx="5693228" cy="2829748"/>
          </a:xfrm>
          <a:prstGeom prst="rect">
            <a:avLst/>
          </a:prstGeom>
        </p:spPr>
      </p:pic>
    </p:spTree>
    <p:extLst>
      <p:ext uri="{BB962C8B-B14F-4D97-AF65-F5344CB8AC3E}">
        <p14:creationId xmlns:p14="http://schemas.microsoft.com/office/powerpoint/2010/main" val="3964853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C28007-29F9-5181-3092-702201C2E9BA}"/>
              </a:ext>
            </a:extLst>
          </p:cNvPr>
          <p:cNvPicPr>
            <a:picLocks noChangeAspect="1"/>
          </p:cNvPicPr>
          <p:nvPr/>
        </p:nvPicPr>
        <p:blipFill>
          <a:blip r:embed="rId2"/>
          <a:stretch>
            <a:fillRect/>
          </a:stretch>
        </p:blipFill>
        <p:spPr>
          <a:xfrm>
            <a:off x="496389" y="390897"/>
            <a:ext cx="7922623" cy="2819476"/>
          </a:xfrm>
          <a:prstGeom prst="rect">
            <a:avLst/>
          </a:prstGeom>
        </p:spPr>
      </p:pic>
      <p:pic>
        <p:nvPicPr>
          <p:cNvPr id="5" name="Picture 4">
            <a:extLst>
              <a:ext uri="{FF2B5EF4-FFF2-40B4-BE49-F238E27FC236}">
                <a16:creationId xmlns:a16="http://schemas.microsoft.com/office/drawing/2014/main" id="{2D5F9FAC-FC9B-56B7-811D-2365CCFA4BED}"/>
              </a:ext>
            </a:extLst>
          </p:cNvPr>
          <p:cNvPicPr>
            <a:picLocks noChangeAspect="1"/>
          </p:cNvPicPr>
          <p:nvPr/>
        </p:nvPicPr>
        <p:blipFill>
          <a:blip r:embed="rId3"/>
          <a:stretch>
            <a:fillRect/>
          </a:stretch>
        </p:blipFill>
        <p:spPr>
          <a:xfrm>
            <a:off x="3827416" y="3647628"/>
            <a:ext cx="7463246" cy="2501227"/>
          </a:xfrm>
          <a:prstGeom prst="rect">
            <a:avLst/>
          </a:prstGeom>
        </p:spPr>
      </p:pic>
    </p:spTree>
    <p:extLst>
      <p:ext uri="{BB962C8B-B14F-4D97-AF65-F5344CB8AC3E}">
        <p14:creationId xmlns:p14="http://schemas.microsoft.com/office/powerpoint/2010/main" val="831959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09B12-6C35-CCE0-ACCC-EA578DD62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CC4A-DBBD-60EC-84A8-412ED7BAF2DF}"/>
              </a:ext>
            </a:extLst>
          </p:cNvPr>
          <p:cNvSpPr>
            <a:spLocks noGrp="1"/>
          </p:cNvSpPr>
          <p:nvPr>
            <p:ph type="title"/>
          </p:nvPr>
        </p:nvSpPr>
        <p:spPr>
          <a:xfrm>
            <a:off x="685799" y="683924"/>
            <a:ext cx="10384972" cy="860400"/>
          </a:xfrm>
        </p:spPr>
        <p:txBody>
          <a:bodyPr>
            <a:normAutofit/>
          </a:bodyPr>
          <a:lstStyle/>
          <a:p>
            <a:r>
              <a:rPr lang="en-US" b="1" dirty="0"/>
              <a:t>5</a:t>
            </a:r>
            <a:r>
              <a:rPr lang="ru-RU" b="1" dirty="0"/>
              <a:t>. </a:t>
            </a:r>
            <a:r>
              <a:rPr lang="ru-RU" b="1" dirty="0" err="1"/>
              <a:t>Тестування</a:t>
            </a:r>
            <a:r>
              <a:rPr lang="ru-RU" b="1" dirty="0"/>
              <a:t> та </a:t>
            </a:r>
            <a:r>
              <a:rPr lang="ru-RU" b="1" dirty="0" err="1"/>
              <a:t>валідація</a:t>
            </a:r>
            <a:endParaRPr lang="ru-RU" b="1" dirty="0"/>
          </a:p>
        </p:txBody>
      </p:sp>
      <p:pic>
        <p:nvPicPr>
          <p:cNvPr id="7" name="Picture 6">
            <a:extLst>
              <a:ext uri="{FF2B5EF4-FFF2-40B4-BE49-F238E27FC236}">
                <a16:creationId xmlns:a16="http://schemas.microsoft.com/office/drawing/2014/main" id="{3EDEA98F-AAA2-562C-5CA6-6F9A82F17481}"/>
              </a:ext>
            </a:extLst>
          </p:cNvPr>
          <p:cNvPicPr>
            <a:picLocks noChangeAspect="1"/>
          </p:cNvPicPr>
          <p:nvPr/>
        </p:nvPicPr>
        <p:blipFill>
          <a:blip r:embed="rId2"/>
          <a:stretch>
            <a:fillRect/>
          </a:stretch>
        </p:blipFill>
        <p:spPr>
          <a:xfrm>
            <a:off x="1169396" y="1787678"/>
            <a:ext cx="9417778" cy="4684967"/>
          </a:xfrm>
          <a:prstGeom prst="rect">
            <a:avLst/>
          </a:prstGeom>
        </p:spPr>
      </p:pic>
    </p:spTree>
    <p:extLst>
      <p:ext uri="{BB962C8B-B14F-4D97-AF65-F5344CB8AC3E}">
        <p14:creationId xmlns:p14="http://schemas.microsoft.com/office/powerpoint/2010/main" val="1655006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361A3F-600D-F065-A911-3C3CAA40D940}"/>
              </a:ext>
            </a:extLst>
          </p:cNvPr>
          <p:cNvPicPr>
            <a:picLocks noChangeAspect="1"/>
          </p:cNvPicPr>
          <p:nvPr/>
        </p:nvPicPr>
        <p:blipFill>
          <a:blip r:embed="rId2"/>
          <a:stretch>
            <a:fillRect/>
          </a:stretch>
        </p:blipFill>
        <p:spPr>
          <a:xfrm>
            <a:off x="414469" y="520894"/>
            <a:ext cx="5104446" cy="2545241"/>
          </a:xfrm>
          <a:prstGeom prst="rect">
            <a:avLst/>
          </a:prstGeom>
        </p:spPr>
      </p:pic>
      <p:pic>
        <p:nvPicPr>
          <p:cNvPr id="6" name="Picture 5">
            <a:extLst>
              <a:ext uri="{FF2B5EF4-FFF2-40B4-BE49-F238E27FC236}">
                <a16:creationId xmlns:a16="http://schemas.microsoft.com/office/drawing/2014/main" id="{B25FC496-0C13-5D23-0304-07224C297508}"/>
              </a:ext>
            </a:extLst>
          </p:cNvPr>
          <p:cNvPicPr>
            <a:picLocks noChangeAspect="1"/>
          </p:cNvPicPr>
          <p:nvPr/>
        </p:nvPicPr>
        <p:blipFill>
          <a:blip r:embed="rId3"/>
          <a:stretch>
            <a:fillRect/>
          </a:stretch>
        </p:blipFill>
        <p:spPr>
          <a:xfrm>
            <a:off x="6673086" y="520894"/>
            <a:ext cx="5120497" cy="2545241"/>
          </a:xfrm>
          <a:prstGeom prst="rect">
            <a:avLst/>
          </a:prstGeom>
        </p:spPr>
      </p:pic>
      <p:cxnSp>
        <p:nvCxnSpPr>
          <p:cNvPr id="8" name="Straight Arrow Connector 7">
            <a:extLst>
              <a:ext uri="{FF2B5EF4-FFF2-40B4-BE49-F238E27FC236}">
                <a16:creationId xmlns:a16="http://schemas.microsoft.com/office/drawing/2014/main" id="{7B88E681-3FF6-4CE9-B834-3974B5742512}"/>
              </a:ext>
            </a:extLst>
          </p:cNvPr>
          <p:cNvCxnSpPr>
            <a:cxnSpLocks/>
          </p:cNvCxnSpPr>
          <p:nvPr/>
        </p:nvCxnSpPr>
        <p:spPr>
          <a:xfrm>
            <a:off x="4265023" y="1848394"/>
            <a:ext cx="374250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37D4FEE-5757-BFF3-6C6B-DE0D65262C4C}"/>
              </a:ext>
            </a:extLst>
          </p:cNvPr>
          <p:cNvPicPr>
            <a:picLocks noChangeAspect="1"/>
          </p:cNvPicPr>
          <p:nvPr/>
        </p:nvPicPr>
        <p:blipFill>
          <a:blip r:embed="rId4"/>
          <a:stretch>
            <a:fillRect/>
          </a:stretch>
        </p:blipFill>
        <p:spPr>
          <a:xfrm>
            <a:off x="2090057" y="3553766"/>
            <a:ext cx="8011886" cy="2783340"/>
          </a:xfrm>
          <a:prstGeom prst="rect">
            <a:avLst/>
          </a:prstGeom>
        </p:spPr>
      </p:pic>
      <p:cxnSp>
        <p:nvCxnSpPr>
          <p:cNvPr id="13" name="Straight Arrow Connector 12">
            <a:extLst>
              <a:ext uri="{FF2B5EF4-FFF2-40B4-BE49-F238E27FC236}">
                <a16:creationId xmlns:a16="http://schemas.microsoft.com/office/drawing/2014/main" id="{73D044D5-6710-BAFB-62D7-C7CF2D7F9693}"/>
              </a:ext>
            </a:extLst>
          </p:cNvPr>
          <p:cNvCxnSpPr/>
          <p:nvPr/>
        </p:nvCxnSpPr>
        <p:spPr>
          <a:xfrm flipH="1">
            <a:off x="4826726" y="2958737"/>
            <a:ext cx="3272245" cy="16589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4255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610E92-CF92-37A5-9B13-D5DFE56C4779}"/>
              </a:ext>
            </a:extLst>
          </p:cNvPr>
          <p:cNvPicPr>
            <a:picLocks noChangeAspect="1"/>
          </p:cNvPicPr>
          <p:nvPr/>
        </p:nvPicPr>
        <p:blipFill>
          <a:blip r:embed="rId2"/>
          <a:stretch>
            <a:fillRect/>
          </a:stretch>
        </p:blipFill>
        <p:spPr>
          <a:xfrm>
            <a:off x="600891" y="509699"/>
            <a:ext cx="6096000" cy="2501290"/>
          </a:xfrm>
          <a:prstGeom prst="rect">
            <a:avLst/>
          </a:prstGeom>
        </p:spPr>
      </p:pic>
      <p:pic>
        <p:nvPicPr>
          <p:cNvPr id="5" name="Picture 4">
            <a:extLst>
              <a:ext uri="{FF2B5EF4-FFF2-40B4-BE49-F238E27FC236}">
                <a16:creationId xmlns:a16="http://schemas.microsoft.com/office/drawing/2014/main" id="{7306EEF0-FA15-A13E-63F0-51371A8EDACB}"/>
              </a:ext>
            </a:extLst>
          </p:cNvPr>
          <p:cNvPicPr>
            <a:picLocks noChangeAspect="1"/>
          </p:cNvPicPr>
          <p:nvPr/>
        </p:nvPicPr>
        <p:blipFill>
          <a:blip r:embed="rId3"/>
          <a:stretch>
            <a:fillRect/>
          </a:stretch>
        </p:blipFill>
        <p:spPr>
          <a:xfrm>
            <a:off x="4023360" y="3429000"/>
            <a:ext cx="7783286" cy="2956371"/>
          </a:xfrm>
          <a:prstGeom prst="rect">
            <a:avLst/>
          </a:prstGeom>
        </p:spPr>
      </p:pic>
    </p:spTree>
    <p:extLst>
      <p:ext uri="{BB962C8B-B14F-4D97-AF65-F5344CB8AC3E}">
        <p14:creationId xmlns:p14="http://schemas.microsoft.com/office/powerpoint/2010/main" val="3275831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C5CAD-CFB7-3192-CD6B-CAEC6EB89D70}"/>
              </a:ext>
            </a:extLst>
          </p:cNvPr>
          <p:cNvSpPr>
            <a:spLocks noGrp="1"/>
          </p:cNvSpPr>
          <p:nvPr>
            <p:ph type="title"/>
          </p:nvPr>
        </p:nvSpPr>
        <p:spPr/>
        <p:txBody>
          <a:bodyPr/>
          <a:lstStyle/>
          <a:p>
            <a:r>
              <a:rPr lang="ru-RU" b="1" dirty="0"/>
              <a:t>6. </a:t>
            </a:r>
            <a:r>
              <a:rPr lang="ru-RU" b="1" dirty="0" err="1"/>
              <a:t>Документація</a:t>
            </a:r>
            <a:r>
              <a:rPr lang="ru-RU" b="1" dirty="0"/>
              <a:t> та </a:t>
            </a:r>
            <a:r>
              <a:rPr lang="ru-RU" b="1" dirty="0" err="1"/>
              <a:t>презентація</a:t>
            </a:r>
            <a:endParaRPr lang="en-US" dirty="0"/>
          </a:p>
        </p:txBody>
      </p:sp>
      <p:sp>
        <p:nvSpPr>
          <p:cNvPr id="3" name="Text Placeholder 2">
            <a:extLst>
              <a:ext uri="{FF2B5EF4-FFF2-40B4-BE49-F238E27FC236}">
                <a16:creationId xmlns:a16="http://schemas.microsoft.com/office/drawing/2014/main" id="{3876A281-97A2-C4B2-E53E-8648F9FED157}"/>
              </a:ext>
            </a:extLst>
          </p:cNvPr>
          <p:cNvSpPr>
            <a:spLocks noGrp="1"/>
          </p:cNvSpPr>
          <p:nvPr>
            <p:ph type="body" idx="1"/>
          </p:nvPr>
        </p:nvSpPr>
        <p:spPr>
          <a:xfrm>
            <a:off x="685799" y="4777381"/>
            <a:ext cx="10131428" cy="1643013"/>
          </a:xfrm>
        </p:spPr>
        <p:txBody>
          <a:bodyPr/>
          <a:lstStyle/>
          <a:p>
            <a:r>
              <a:rPr lang="uk-UA" cap="none" dirty="0"/>
              <a:t>Усі кроки підготовки моделі машинного навчання були задокументовані у відповідних ноутбуках </a:t>
            </a:r>
            <a:r>
              <a:rPr lang="en-US" cap="none" dirty="0" err="1"/>
              <a:t>Jupyter</a:t>
            </a:r>
            <a:r>
              <a:rPr lang="uk-UA" cap="none" dirty="0"/>
              <a:t>. Також є файл </a:t>
            </a:r>
            <a:r>
              <a:rPr lang="en-US" cap="none" dirty="0"/>
              <a:t>readme, </a:t>
            </a:r>
            <a:r>
              <a:rPr lang="uk-UA" cap="none" dirty="0"/>
              <a:t>який ви можете подивитися в репозиторії </a:t>
            </a:r>
            <a:r>
              <a:rPr lang="uk-UA" cap="none" dirty="0" err="1"/>
              <a:t>Гітхаб</a:t>
            </a:r>
            <a:r>
              <a:rPr lang="uk-UA" cap="none" dirty="0"/>
              <a:t>. </a:t>
            </a:r>
          </a:p>
        </p:txBody>
      </p:sp>
    </p:spTree>
    <p:extLst>
      <p:ext uri="{BB962C8B-B14F-4D97-AF65-F5344CB8AC3E}">
        <p14:creationId xmlns:p14="http://schemas.microsoft.com/office/powerpoint/2010/main" val="1562646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7DB4D-8657-3C81-3F77-E6BA70D93FE4}"/>
              </a:ext>
            </a:extLst>
          </p:cNvPr>
          <p:cNvSpPr>
            <a:spLocks noGrp="1"/>
          </p:cNvSpPr>
          <p:nvPr>
            <p:ph type="ctrTitle"/>
          </p:nvPr>
        </p:nvSpPr>
        <p:spPr/>
        <p:txBody>
          <a:bodyPr/>
          <a:lstStyle/>
          <a:p>
            <a:r>
              <a:rPr lang="uk-UA" dirty="0"/>
              <a:t>Дякую за увагу</a:t>
            </a:r>
            <a:endParaRPr lang="en-US" dirty="0"/>
          </a:p>
        </p:txBody>
      </p:sp>
    </p:spTree>
    <p:extLst>
      <p:ext uri="{BB962C8B-B14F-4D97-AF65-F5344CB8AC3E}">
        <p14:creationId xmlns:p14="http://schemas.microsoft.com/office/powerpoint/2010/main" val="7762659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82</TotalTime>
  <Words>315</Words>
  <Application>Microsoft Office PowerPoint</Application>
  <PresentationFormat>Widescreen</PresentationFormat>
  <Paragraphs>20</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Celestial</vt:lpstr>
      <vt:lpstr>Фінальний проєкт для курсу Python-10 від Dan IT</vt:lpstr>
      <vt:lpstr>0. Вибір датасету</vt:lpstr>
      <vt:lpstr>1. Аналіз та підготовка даних</vt:lpstr>
      <vt:lpstr>PowerPoint Presentation</vt:lpstr>
      <vt:lpstr>PowerPoint Presentation</vt:lpstr>
      <vt:lpstr>2. Розробка моделі машинного навчання</vt:lpstr>
      <vt:lpstr>PowerPoint Presentation</vt:lpstr>
      <vt:lpstr>PowerPoint Presentation</vt:lpstr>
      <vt:lpstr>PowerPoint Presentation</vt:lpstr>
      <vt:lpstr>3. Візуалізація даних</vt:lpstr>
      <vt:lpstr>PowerPoint Presentation</vt:lpstr>
      <vt:lpstr>PowerPoint Presentation</vt:lpstr>
      <vt:lpstr>4. Розробка веб-сторінки у Django</vt:lpstr>
      <vt:lpstr>PowerPoint Presentation</vt:lpstr>
      <vt:lpstr>PowerPoint Presentation</vt:lpstr>
      <vt:lpstr>PowerPoint Presentation</vt:lpstr>
      <vt:lpstr>PowerPoint Presentation</vt:lpstr>
      <vt:lpstr>5. Тестування та валідація</vt:lpstr>
      <vt:lpstr>PowerPoint Presentation</vt:lpstr>
      <vt:lpstr>PowerPoint Presentation</vt:lpstr>
      <vt:lpstr>6. Документація та презентація</vt:lpstr>
      <vt:lpstr>Дякую за увагу</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Karolina Rohal</dc:creator>
  <cp:lastModifiedBy>Karolina Rohal</cp:lastModifiedBy>
  <cp:revision>2</cp:revision>
  <dcterms:created xsi:type="dcterms:W3CDTF">2025-11-23T20:06:37Z</dcterms:created>
  <dcterms:modified xsi:type="dcterms:W3CDTF">2025-11-23T21:29:09Z</dcterms:modified>
</cp:coreProperties>
</file>